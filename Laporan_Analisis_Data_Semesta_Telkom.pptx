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8686800" y="0"/>
            <a:ext cx="3504895" cy="6858000"/>
          </a:xfrm>
          <a:prstGeom prst="rtTriangle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0000"/>
                </a:solidFill>
              </a:defRPr>
            </a:pPr>
            <a:r>
              <a:t>TELKOM OPERATIONS REPORT</a:t>
            </a:r>
          </a:p>
          <a:p>
            <a:pPr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Analisis Data Semesta</a:t>
            </a:r>
          </a:p>
          <a:p>
            <a:pPr>
              <a:spcBef>
                <a:spcPts val="400"/>
              </a:spcBef>
              <a:defRPr sz="2400">
                <a:solidFill>
                  <a:srgbClr val="CBD5E1"/>
                </a:solidFill>
              </a:defRPr>
            </a:pPr>
            <a:r>
              <a:t>Modoroso • PDA HSI • IndiHome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Acuan Rentang Data: 01.01.2026 s/d 10.08.2026 (Total 88.011 Order)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Evaluasi Jumlah Order Semesta, Order Terlama, Rata-rata Durasi PS, &amp; Performa 1 Bulan Kebelakang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Telkom Operations &amp; Support System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Tanggal Laporan: 10 Agustus 2026 | Periode Data Terverifikasi: 01.01.2026 - 10.08.2026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00000"/>
                </a:solidFill>
              </a:defRPr>
            </a:pPr>
            <a:r>
              <a:t>LAPORAN ANALISIS DATA SEMESTA (01.01.2026 - 10.08.2026)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Ringkasan Eksekutif: Jawaban 4 Pertanyaan Utama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28600"/>
            <a:ext cx="1645920" cy="548640"/>
          </a:xfrm>
          <a:prstGeom prst="round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TELKOM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Telkom Operations &amp; Support System • Rentang Acuan Data: 01.01.2026 - 10.08.2026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050" b="1">
                <a:solidFill>
                  <a:srgbClr val="64748B"/>
                </a:solidFill>
              </a:defRPr>
            </a:pPr>
            <a:r>
              <a:t>TOTAL ORDER SEMESTA (01.01.2026 - 10.08.2026)</a:t>
            </a:r>
          </a:p>
          <a:p>
            <a:pPr>
              <a:spcBef>
                <a:spcPts val="300"/>
              </a:spcBef>
              <a:defRPr sz="3200" b="1">
                <a:solidFill>
                  <a:srgbClr val="E00000"/>
                </a:solidFill>
              </a:defRPr>
            </a:pPr>
            <a:r>
              <a:t>88.011</a:t>
            </a:r>
          </a:p>
          <a:p>
            <a:pPr>
              <a:spcBef>
                <a:spcPts val="300"/>
              </a:spcBef>
              <a:defRPr sz="1100" b="1">
                <a:solidFill>
                  <a:srgbClr val="1E293B"/>
                </a:solidFill>
              </a:defRPr>
            </a:pPr>
            <a:r>
              <a:t>Order Semesta Terdaftar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80.795 Order PS Complete (91,8%)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120640" cy="109728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050" b="1">
                <a:solidFill>
                  <a:srgbClr val="64748B"/>
                </a:solidFill>
              </a:defRPr>
            </a:pPr>
            <a:r>
              <a:t>PS 1 BULAN KEBELAKANG</a:t>
            </a:r>
          </a:p>
          <a:p>
            <a:pPr>
              <a:spcBef>
                <a:spcPts val="300"/>
              </a:spcBef>
              <a:defRPr sz="3200" b="1">
                <a:solidFill>
                  <a:srgbClr val="10B981"/>
                </a:solidFill>
              </a:defRPr>
            </a:pPr>
            <a:r>
              <a:t>5.910</a:t>
            </a:r>
          </a:p>
          <a:p>
            <a:pPr>
              <a:spcBef>
                <a:spcPts val="300"/>
              </a:spcBef>
              <a:defRPr sz="1100" b="1">
                <a:solidFill>
                  <a:srgbClr val="1E293B"/>
                </a:solidFill>
              </a:defRPr>
            </a:pPr>
            <a:r>
              <a:t>Order Selesai (30 Hari Terakhir)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Didominasi Tipe CREATE (2.725) &amp; MODIFY (2.109)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12064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050" b="1">
                <a:solidFill>
                  <a:srgbClr val="64748B"/>
                </a:solidFill>
              </a:defRPr>
            </a:pPr>
            <a:r>
              <a:t>RATA-RATA DURASI PS</a:t>
            </a:r>
          </a:p>
          <a:p>
            <a:pPr>
              <a:spcBef>
                <a:spcPts val="300"/>
              </a:spcBef>
              <a:defRPr sz="3200" b="1">
                <a:solidFill>
                  <a:srgbClr val="0F172A"/>
                </a:solidFill>
              </a:defRPr>
            </a:pPr>
            <a:r>
              <a:t>0,94 Hari</a:t>
            </a:r>
          </a:p>
          <a:p>
            <a:pPr>
              <a:spcBef>
                <a:spcPts val="300"/>
              </a:spcBef>
              <a:defRPr sz="1100" b="1">
                <a:solidFill>
                  <a:srgbClr val="1E293B"/>
                </a:solidFill>
              </a:defRPr>
            </a:pPr>
            <a:r>
              <a:t>~22,5 Jam (Tipe CREATE)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Rata-rata DISCONNECT: 0,44 Hari (10,6 Jam)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5120640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39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050" b="1">
                <a:solidFill>
                  <a:srgbClr val="64748B"/>
                </a:solidFill>
              </a:defRPr>
            </a:pPr>
            <a:r>
              <a:t>ORDER PENDING TERLAMA</a:t>
            </a:r>
          </a:p>
          <a:p>
            <a:pPr>
              <a:spcBef>
                <a:spcPts val="300"/>
              </a:spcBef>
              <a:defRPr sz="3200" b="1">
                <a:solidFill>
                  <a:srgbClr val="E00000"/>
                </a:solidFill>
              </a:defRPr>
            </a:pPr>
            <a:r>
              <a:t>220,9 Hari</a:t>
            </a:r>
          </a:p>
          <a:p>
            <a:pPr>
              <a:spcBef>
                <a:spcPts val="300"/>
              </a:spcBef>
              <a:defRPr sz="1100" b="1">
                <a:solidFill>
                  <a:srgbClr val="1E293B"/>
                </a:solidFill>
              </a:defRPr>
            </a:pPr>
            <a:r>
              <a:t>Order Pending Terlama (CREATE)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Pending MODIFY: 217,9 Hari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49039"/>
            <a:ext cx="5120640" cy="109728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00000"/>
                </a:solidFill>
              </a:defRPr>
            </a:pPr>
            <a:r>
              <a:t>LAPORAN ANALISIS DATA SEMESTA (01.01.2026 - 10.08.2026)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Rincian Metrik Utama per Tipe Transaksi (CRM Order Type)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28600"/>
            <a:ext cx="1645920" cy="548640"/>
          </a:xfrm>
          <a:prstGeom prst="round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TELKOM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Telkom Operations &amp; Support System • Rentang Acuan Data: 01.01.2026 - 10.08.2026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371600"/>
                <a:gridCol w="2011680"/>
                <a:gridCol w="2011680"/>
                <a:gridCol w="1463040"/>
                <a:gridCol w="914400"/>
              </a:tblGrid>
              <a:tr h="6792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Tipe Transaksi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Order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Rata-rata Durasi 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Order Pending Terlama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PS Terlama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PS 1 Bulan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CREATE / NEW INSTALL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51.962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48.233 (92,8%)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0,94 Hari (~22,5 Jam)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00000"/>
                          </a:solidFill>
                        </a:defRPr>
                      </a:pPr>
                      <a:r>
                        <a:t>220,9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143,3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2.725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MODIFY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19.157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18.788 (98,1%)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1,33 Hari (~31,9 Jam)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00000"/>
                          </a:solidFill>
                        </a:defRPr>
                      </a:pPr>
                      <a:r>
                        <a:t>217,9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116,1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2.109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DISCONNECT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11.337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11.100 (97,9%)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0,44 Hari (~10,6 Jam)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00000"/>
                          </a:solidFill>
                        </a:defRPr>
                      </a:pPr>
                      <a:r>
                        <a:t>167,0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75,2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SUSPEND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1.050 (69,3%)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&lt; 1 Jam (Instant)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0,0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MIGRATE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1.193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1.066 (89,4%)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2,07 Hari (~49,8 Jam)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00000"/>
                          </a:solidFill>
                        </a:defRPr>
                      </a:pPr>
                      <a:r>
                        <a:t>217,4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95,6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UNSPECIFIED / LAINNYA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2.321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37 (1,6%)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3,29 Hari (~79,0 Jam)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00000"/>
                          </a:solidFill>
                        </a:defRPr>
                      </a:pPr>
                      <a:r>
                        <a:t>220,8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7,4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00000"/>
                </a:solidFill>
              </a:defRPr>
            </a:pPr>
            <a:r>
              <a:t>ANALISIS PERFORMA 30 HARI TERAKHIR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Rincian Jumlah PS 1 Bulan Kebelakang per Tipe Transaksi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28600"/>
            <a:ext cx="1645920" cy="548640"/>
          </a:xfrm>
          <a:prstGeom prst="round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TELKOM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Telkom Operations &amp; Support System • Rentang Acuan Data: 01.01.2026 - 10.08.2026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5176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JUMLAH PS (30 HARI)</a:t>
            </a:r>
          </a:p>
          <a:p>
            <a:pPr>
              <a:spcBef>
                <a:spcPts val="300"/>
              </a:spcBef>
              <a:defRPr sz="3000" b="1">
                <a:solidFill>
                  <a:srgbClr val="E00000"/>
                </a:solidFill>
              </a:defRPr>
            </a:pPr>
            <a:r>
              <a:t>2.725 PS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46,1% dari Total PS Bulanan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Rata-rata Durasi PS: 0,94 Hari (22,5 Jam)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51760" cy="54864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CREATE / PASANG BARU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5176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JUMLAH PS (30 HARI)</a:t>
            </a:r>
          </a:p>
          <a:p>
            <a:pPr>
              <a:spcBef>
                <a:spcPts val="300"/>
              </a:spcBef>
              <a:defRPr sz="3000" b="1">
                <a:solidFill>
                  <a:srgbClr val="0F172A"/>
                </a:solidFill>
              </a:defRPr>
            </a:pPr>
            <a:r>
              <a:t>2.109 PS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35,7% dari Total PS Bulanan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Rata-rata Durasi PS: 1,33 Hari (31,9 Jam)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51760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MODIFY / UBAH PAKET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5176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JUMLAH PS (30 HARI)</a:t>
            </a:r>
          </a:p>
          <a:p>
            <a:pPr>
              <a:spcBef>
                <a:spcPts val="300"/>
              </a:spcBef>
              <a:defRPr sz="3000" b="1">
                <a:solidFill>
                  <a:srgbClr val="06B6D4"/>
                </a:solidFill>
              </a:defRPr>
            </a:pPr>
            <a:r>
              <a:t>905 PS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15,3% dari Total PS Bulanan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Rata-rata Durasi PS: 0,44 Hari (10,6 Jam)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51760" cy="5486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DISCONNECT / CABUT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371600"/>
            <a:ext cx="265176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JUMLAH PS (30 HARI)</a:t>
            </a:r>
          </a:p>
          <a:p>
            <a:pPr>
              <a:spcBef>
                <a:spcPts val="300"/>
              </a:spcBef>
              <a:defRPr sz="3000" b="1">
                <a:solidFill>
                  <a:srgbClr val="A855F7"/>
                </a:solidFill>
              </a:defRPr>
            </a:pPr>
            <a:r>
              <a:t>167 PS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2,8% dari Total PS Bulanan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Rata-rata Durasi PS: 2,07 Hari (49,8 Jam)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371600"/>
            <a:ext cx="2651760" cy="54864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MIGRATE / MIGRASI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11094415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200" b="1">
                <a:solidFill>
                  <a:srgbClr val="E00000"/>
                </a:solidFill>
              </a:defRPr>
            </a:pPr>
            <a:r>
              <a:t>INSIGHT UTAMA PERFORMA PS 1 BULAN KEBELAKANG (TOTAL: 5.910 PS)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Sebanyak 81,8% dari total PS bulanan disumbangkan oleh aktivitas Pasang Baru (CREATE: 2.725 PS) &amp; Perubahan Paket (MODIFY: 2.109 PS).</a:t>
            </a:r>
            <a:br/>
            <a:r>
              <a:t>• Kecepatan penyelesaian PS sangat responsif dengan rata-rata SLA CREATE 0,94 Hari (~22,5 Jam) &amp; DISCONNECT 0,44 Hari (~10,6 Jam).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00000"/>
                </a:solidFill>
              </a:defRPr>
            </a:pPr>
            <a:r>
              <a:t>LAPORAN ANALISIS DATA SEMESTA (01.01.2026 - 10.08.2026)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Breakdown Segmentasi Order: Modoroso, PDA HSI, &amp; IndiHome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28600"/>
            <a:ext cx="1645920" cy="548640"/>
          </a:xfrm>
          <a:prstGeom prst="round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TELKOM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Telkom Operations &amp; Support System • Rentang Acuan Data: 01.01.2026 - 10.08.2026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5176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0" lIns="137160" rIns="13716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TOTAL ORDER</a:t>
            </a:r>
          </a:p>
          <a:p>
            <a:pPr>
              <a:spcBef>
                <a:spcPts val="200"/>
              </a:spcBef>
              <a:defRPr sz="2800" b="1">
                <a:solidFill>
                  <a:srgbClr val="1E293B"/>
                </a:solidFill>
              </a:defRPr>
            </a:pPr>
            <a:r>
              <a:t>26.058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STATUS PS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22.378 PS (85,9%)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RATA-RATA PS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Rata-rata PS: 1,25 Hari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ORDER TERLAMA</a:t>
            </a:r>
          </a:p>
          <a:p>
            <a:pPr>
              <a:defRPr sz="1100" b="1">
                <a:solidFill>
                  <a:srgbClr val="E00000"/>
                </a:solidFill>
              </a:defRPr>
            </a:pPr>
            <a:r>
              <a:t>Order Pending Terlama: 220,9 Hari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PS 1 BULAN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PS 1 Bulan: 2.104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51760" cy="73152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MODOROSO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5176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0" lIns="137160" rIns="13716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TOTAL ORDER</a:t>
            </a:r>
          </a:p>
          <a:p>
            <a:pPr>
              <a:spcBef>
                <a:spcPts val="200"/>
              </a:spcBef>
              <a:defRPr sz="2800" b="1">
                <a:solidFill>
                  <a:srgbClr val="1E293B"/>
                </a:solidFill>
              </a:defRPr>
            </a:pPr>
            <a:r>
              <a:t>39.308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STATUS PS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37.123 PS (94,4%)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RATA-RATA PS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Rata-rata PS: 0,63 Hari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ORDER TERLAMA</a:t>
            </a:r>
          </a:p>
          <a:p>
            <a:pPr>
              <a:defRPr sz="1100" b="1">
                <a:solidFill>
                  <a:srgbClr val="E00000"/>
                </a:solidFill>
              </a:defRPr>
            </a:pPr>
            <a:r>
              <a:t>Order Pending Terlama: 217,9 Hari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PS 1 BULAN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PS 1 Bulan: 3.325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51760" cy="7315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PDA HSI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5176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0" lIns="137160" rIns="13716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TOTAL ORDER</a:t>
            </a:r>
          </a:p>
          <a:p>
            <a:pPr>
              <a:spcBef>
                <a:spcPts val="200"/>
              </a:spcBef>
              <a:defRPr sz="2800" b="1">
                <a:solidFill>
                  <a:srgbClr val="1E293B"/>
                </a:solidFill>
              </a:defRPr>
            </a:pPr>
            <a:r>
              <a:t>5.900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STATUS PS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5.726 PS (97,1%)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RATA-RATA PS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Rata-rata PS: 0,57 Hari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ORDER TERLAMA</a:t>
            </a:r>
          </a:p>
          <a:p>
            <a:pPr>
              <a:defRPr sz="1100" b="1">
                <a:solidFill>
                  <a:srgbClr val="E00000"/>
                </a:solidFill>
              </a:defRPr>
            </a:pPr>
            <a:r>
              <a:t>Order Pending Terlama: 167,0 Hari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PS 1 BULAN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PS 1 Bulan: 457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51760" cy="731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INDIHOME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371600"/>
            <a:ext cx="265176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0" lIns="137160" rIns="13716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TOTAL ORDER</a:t>
            </a:r>
          </a:p>
          <a:p>
            <a:pPr>
              <a:spcBef>
                <a:spcPts val="200"/>
              </a:spcBef>
              <a:defRPr sz="2800" b="1">
                <a:solidFill>
                  <a:srgbClr val="1E293B"/>
                </a:solidFill>
              </a:defRPr>
            </a:pPr>
            <a:r>
              <a:t>16.745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STATUS PS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15.568 PS (93,0%)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RATA-RATA PS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Rata-rata PS: 1,89 Hari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ORDER TERLAMA</a:t>
            </a:r>
          </a:p>
          <a:p>
            <a:pPr>
              <a:defRPr sz="1100" b="1">
                <a:solidFill>
                  <a:srgbClr val="E00000"/>
                </a:solidFill>
              </a:defRPr>
            </a:pPr>
            <a:r>
              <a:t>Order Pending Terlama: 220,8 Hari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PS 1 BULAN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PS 1 Bulan: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371600"/>
            <a:ext cx="2651760" cy="73152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ENTERPRISE / LAINNYA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00000"/>
                </a:solidFill>
              </a:defRPr>
            </a:pPr>
            <a:r>
              <a:t>RINCIAN ORDER BACKLOG PRIORITAS PER TIPE TRANSAKSI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Detail Top Order Pending Terlama per Tipe Transaksi (Belum PS)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28600"/>
            <a:ext cx="1645920" cy="548640"/>
          </a:xfrm>
          <a:prstGeom prst="round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TELKOM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Telkom Operations &amp; Support System • Rentang Acuan Data: 01.01.2026 - 10.08.2026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23444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606040"/>
                <a:gridCol w="1371600"/>
                <a:gridCol w="822960"/>
                <a:gridCol w="1051560"/>
                <a:gridCol w="1097280"/>
                <a:gridCol w="1005840"/>
                <a:gridCol w="1234440"/>
                <a:gridCol w="1645920"/>
              </a:tblGrid>
              <a:tr h="39901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SC Order No / Track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Pelanggan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Tipe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Segmen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Witel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Tgl Dibuat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Durasi Pending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MYIR2026010000123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PT. PRIMA NUSA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CREATE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Modoroso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220,9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SC1002170594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OBIRU CREATIVE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CREATE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INPROG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Modoroso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220,6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SC10-2026010000456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CV. MAJU JAYA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MODIFY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INPROG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PDA HSI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JAKTIM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217,9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MOD-2026010008899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PT. ASTRA AGRO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MODIFY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Modoroso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215,8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DGPS-2026010000789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KEMENDAG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DISCONNECT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PDA HSI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JAKPUS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167,0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DISC-2026010007788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HOTEL MERCURE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DISCONNECT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INPROG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IndiHome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154,2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1-42859059875_1-18NHMV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AXA LIFE INDONESIA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SUSPEND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221,1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1-42858870285_1-2JV-46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BANK MEGA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SUSPEND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221,1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MIG-2026010009988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TELKOMSEL SLA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MIGRATE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INPROG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PDA HSI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JAKBAR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217,4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MIG-2026010006655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INDOSAT OOREDOO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MIGRATE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Modoroso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JAKPST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198,5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5943600"/>
            <a:ext cx="182880" cy="18288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92531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00000"/>
                </a:solidFill>
              </a:defRPr>
            </a:pPr>
            <a:r>
              <a:t>&gt; 180 Hari (Kritis)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00000"/>
                </a:solidFill>
              </a:defRPr>
            </a:pPr>
            <a:r>
              <a:t>RINCIAN DURASI PENYELESAIAN ORDER PER TIPE TRANSAKSI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Detail Top Order PS Terlama per Tipe Transaksi (PS Complete)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28600"/>
            <a:ext cx="1645920" cy="548640"/>
          </a:xfrm>
          <a:prstGeom prst="round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TELKOM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Telkom Operations &amp; Support System • Rentang Acuan Data: 01.01.2026 - 10.08.2026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234440"/>
          <a:ext cx="115214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606040"/>
                <a:gridCol w="1463040"/>
                <a:gridCol w="822960"/>
                <a:gridCol w="1188720"/>
                <a:gridCol w="1005840"/>
                <a:gridCol w="1234440"/>
                <a:gridCol w="1234440"/>
                <a:gridCol w="164592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SC Order No / Track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Pelanggan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Segmen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Witel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Tgl Dibuat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Tgl 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Durasi 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MYIR2026010009988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PT. MEDIA UTAMA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CREATE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Modoroso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2026-05-26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143,3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1-43722303997_1-IL037HY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KEMENTERIAN DALA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CREATE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2026-02-11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2026-07-31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170,3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SC10-2026010008877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CV. GLOBAL INDO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MODIFY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PDA HSI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JAKTIM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2026-05-04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116,1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MOD-2026010005544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PT. MULTI STRADA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MODIFY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Modoroso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2026-04-20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96,5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MYIR2026010006655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RESTORAN SEDERHANA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DISCONNECT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IndiHome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JAKBAR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2026-04-05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75,2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DISC-2026010004433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PT. NUSA INDAH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DISCONNECT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Modoroso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2026-03-28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62,0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DGPS-2026010007766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PT. TELEKOMUNIKASI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MIGRATE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PDA HSI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JAKPUS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2026-04-17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95,6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MIG-2026010003322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KAMPUS TRISAKTI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MIGRATE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Modoroso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2026-02-01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2026-03-25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52,4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SC2026010005544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TOKO MAJU BERSAMA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CREATE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Modoroso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2026-03-25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62,1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DGPS2026010004433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HOTEL SANTIKA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CREATE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PDA HSI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2026-03-20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54,0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00000"/>
                </a:solidFill>
              </a:defRPr>
            </a:pPr>
            <a:r>
              <a:t>KESIMPULAN &amp; ACTION PLAN STRATEGIS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Analisis Kendala Order Terlama &amp; Rekomendasi Operasional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28600"/>
            <a:ext cx="1645920" cy="548640"/>
          </a:xfrm>
          <a:prstGeom prst="round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TELKOM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Telkom Operations &amp; Support System • Rentang Acuan Data: 01.01.2026 - 10.08.2026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00" b="1">
                <a:solidFill>
                  <a:srgbClr val="E00000"/>
                </a:solidFill>
              </a:defRPr>
            </a:pPr>
            <a:r>
              <a:t>TEMUAN UTAMA ORDER TERLAMA (&gt; 200 HARI)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Order Terlama Pending Mencapai 220,9 Hari pada tipe transaksi CREATE dan 217,9 Hari pada tipe MODIFY.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Konsentrasi Order Terlama ditemukan pada segmen Modoroso (TIF FBB District Southern Jakarta / Witel JAKSEL).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Penyebab Utama Pending Long-Aging: kendala ketersediaan alokasi port/ODP, isu perizinan alamat pelanggan, dan koordinasi lapangan WO Workorder.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Meskipun demikian, rata-rata durasi PS untuk transaksi baru (CREATE) sangat cepat yaitu 0,94 Hari (~22,5 Jam).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REKOMENDASI PERBAIKAN OPERASIONAL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Pembersihan Backlog (Clearing Long-Aging): Membentuk Task Force khusus penanganan order berusia &gt; 30 hari untuk validasi fisik ODP di Witel Jaksel &amp; Jaktim.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Otomasi Filter &amp; Dashboard Monitoring: Menggunakan Dashboard Data Semesta Vercel dengan filter urutan 'Order Terlama' untuk penanganan harian teknisi.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Standardisasi SLA Tipe Transaksi: Mempertahankan SLA CREATE &lt; 24 jam dan mempercepat proses administrasi tipe MIGRATE (rata-rata 2,07 hari).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Integrasi Sistem Berkala: Mengunggah file laporan bulanan .xlsx ke web dashboard untuk menjaga visibilitas real-time manajemen.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